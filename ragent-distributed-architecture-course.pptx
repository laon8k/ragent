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221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19100" y="419100"/>
            <a:ext cx="6667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5CC2FF"/>
                </a:solidFill>
              </a:defRPr>
            </a:pPr>
            <a:r>
              <a:t>分布式系统架构课程大作业展示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19100" y="838200"/>
            <a:ext cx="6667500" cy="1466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600">
                <a:solidFill>
                  <a:srgbClr val="F7FBFF"/>
                </a:solidFill>
              </a:defRPr>
            </a:pPr>
            <a:r>
              <a:t>Ragent 智能问答系统的</a:t>
            </a:r>
          </a:p>
          <a:p>
            <a:pPr>
              <a:defRPr sz="3600">
                <a:solidFill>
                  <a:srgbClr val="F7FBFF"/>
                </a:solidFill>
              </a:defRPr>
            </a:pPr>
            <a:r>
              <a:t>高并发与高可用设计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19100" y="2457450"/>
            <a:ext cx="666750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AABBD4"/>
                </a:solidFill>
              </a:defRPr>
            </a:pPr>
            <a:r>
              <a:t>以企业级问答系统为案例，重点展示在长连接、外部依赖不稳定、重任务异步处理场景下，如何通过分布式设计实现稳定服务。</a:t>
            </a: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410450" y="419100"/>
            <a:ext cx="4362450" cy="4000500"/>
          </a:xfrm>
          <a:prstGeom prst="roundRect">
            <a:avLst>
              <a:gd name="adj" fmla="val 5714"/>
            </a:avLst>
          </a:prstGeom>
          <a:solidFill>
            <a:srgbClr val="10203A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7620000" y="628650"/>
            <a:ext cx="3943350" cy="723900"/>
          </a:xfrm>
          <a:prstGeom prst="roundRect">
            <a:avLst>
              <a:gd name="adj" fmla="val 21053"/>
            </a:avLst>
          </a:prstGeom>
          <a:solidFill>
            <a:srgbClr val="163252"/>
          </a:solidFill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791450" y="800100"/>
            <a:ext cx="1804321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F7FBFF"/>
                </a:solidFill>
              </a:defRPr>
            </a:pPr>
            <a:r>
              <a:t>用户入口 / SSE 长连接</a:t>
            </a: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620000" y="1485900"/>
            <a:ext cx="3943350" cy="723900"/>
          </a:xfrm>
          <a:prstGeom prst="roundRect">
            <a:avLst>
              <a:gd name="adj" fmla="val 21053"/>
            </a:avLst>
          </a:prstGeom>
          <a:solidFill>
            <a:srgbClr val="1A3D67"/>
          </a:solidFill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791450" y="1657350"/>
            <a:ext cx="1154239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F7FBFF"/>
                </a:solidFill>
              </a:defRPr>
            </a:pPr>
            <a:r>
              <a:t>Ragent 主服务</a:t>
            </a: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620000" y="2343150"/>
            <a:ext cx="3943350" cy="723900"/>
          </a:xfrm>
          <a:prstGeom prst="roundRect">
            <a:avLst>
              <a:gd name="adj" fmla="val 21053"/>
            </a:avLst>
          </a:prstGeom>
          <a:solidFill>
            <a:srgbClr val="12304F"/>
          </a:solidFill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791450" y="2514600"/>
            <a:ext cx="1382459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F7FBFF"/>
                </a:solidFill>
              </a:defRPr>
            </a:pPr>
            <a:r>
              <a:t>Redis / RocketMQ</a:t>
            </a: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620000" y="3200400"/>
            <a:ext cx="3943350" cy="723900"/>
          </a:xfrm>
          <a:prstGeom prst="roundRect">
            <a:avLst>
              <a:gd name="adj" fmla="val 21053"/>
            </a:avLst>
          </a:prstGeom>
          <a:solidFill>
            <a:srgbClr val="20385D"/>
          </a:solidFill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791450" y="3371850"/>
            <a:ext cx="2224278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F7FBFF"/>
                </a:solidFill>
              </a:defRPr>
            </a:pPr>
            <a:r>
              <a:t>数据库 / 向量库 / 模型服务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620000" y="4057650"/>
            <a:ext cx="9525" cy="9525"/>
          </a:xfrm>
          <a:prstGeom prst="rect">
            <a:avLst/>
          </a:prstGeom>
          <a:solidFill>
            <a:srgbClr val="10203A"/>
          </a:solidFill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419100" y="5924550"/>
            <a:ext cx="1733550" cy="400050"/>
          </a:xfrm>
          <a:prstGeom prst="roundRect">
            <a:avLst>
              <a:gd name="adj" fmla="val 50000"/>
            </a:avLst>
          </a:prstGeom>
          <a:solidFill>
            <a:srgbClr val="0E2138"/>
          </a:solidFill>
          <a:ln w="9525">
            <a:solidFill>
              <a:srgbClr val="5CC2F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14350" y="6019800"/>
            <a:ext cx="762000" cy="1828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5CC2FF"/>
                </a:solidFill>
              </a:defRPr>
            </a:pPr>
            <a:r>
              <a:t>分布式限流</a:t>
            </a: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2305050" y="5924550"/>
            <a:ext cx="1733550" cy="400050"/>
          </a:xfrm>
          <a:prstGeom prst="roundRect">
            <a:avLst>
              <a:gd name="adj" fmla="val 50000"/>
            </a:avLst>
          </a:prstGeom>
          <a:solidFill>
            <a:srgbClr val="0E2138"/>
          </a:solidFill>
          <a:ln w="9525">
            <a:solidFill>
              <a:srgbClr val="8FE1C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2400300" y="6019800"/>
            <a:ext cx="762000" cy="1828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8FE1C4"/>
                </a:solidFill>
              </a:defRPr>
            </a:pPr>
            <a:r>
              <a:t>多模型容错</a:t>
            </a: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4191000" y="5924550"/>
            <a:ext cx="1733550" cy="400050"/>
          </a:xfrm>
          <a:prstGeom prst="roundRect">
            <a:avLst>
              <a:gd name="adj" fmla="val 50000"/>
            </a:avLst>
          </a:prstGeom>
          <a:solidFill>
            <a:srgbClr val="0E2138"/>
          </a:solidFill>
          <a:ln w="9525">
            <a:solidFill>
              <a:srgbClr val="FFBF75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286250" y="6019800"/>
            <a:ext cx="914400" cy="1828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FFBF75"/>
                </a:solidFill>
              </a:defRPr>
            </a:pPr>
            <a:r>
              <a:t>事务消息解耦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410450" y="5924550"/>
            <a:ext cx="9525" cy="9525"/>
          </a:xfrm>
          <a:prstGeom prst="rect">
            <a:avLst/>
          </a:prstGeom>
          <a:solidFill>
            <a:srgbClr val="081221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221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19100" y="419100"/>
            <a:ext cx="11353800" cy="1600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5CC2FF"/>
                </a:solidFill>
              </a:defRPr>
            </a:pPr>
            <a:r>
              <a:t>项目定位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19100" y="655320"/>
            <a:ext cx="11353800" cy="77724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>
                <a:solidFill>
                  <a:srgbClr val="F7FBFF"/>
                </a:solidFill>
              </a:defRPr>
            </a:pPr>
            <a:r>
              <a:t>一个长连接问答系统如何在分布式场景下稳定运行。</a:t>
            </a: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419100" y="1661160"/>
            <a:ext cx="6191250" cy="2381250"/>
          </a:xfrm>
          <a:prstGeom prst="roundRect">
            <a:avLst>
              <a:gd name="adj" fmla="val 8000"/>
            </a:avLst>
          </a:prstGeom>
          <a:solidFill>
            <a:srgbClr val="142947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870710"/>
            <a:ext cx="57721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>
                <a:solidFill>
                  <a:srgbClr val="F7FBFF"/>
                </a:solidFill>
              </a:defRPr>
            </a:pPr>
            <a:r>
              <a:t>系统是什么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2308860"/>
            <a:ext cx="5772150" cy="7543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F7FBFF"/>
                </a:solidFill>
              </a:defRPr>
            </a:pPr>
            <a:r>
              <a:t>Ragent 是一个企业级智能问答平台，包含在线问答、管理后台、知识摄入、链路追踪等完整功能闭环。</a:t>
            </a: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838950" y="1661160"/>
            <a:ext cx="4933950" cy="1428750"/>
          </a:xfrm>
          <a:prstGeom prst="roundRect">
            <a:avLst>
              <a:gd name="adj" fmla="val 13333"/>
            </a:avLst>
          </a:prstGeom>
          <a:solidFill>
            <a:srgbClr val="10203A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048500" y="1870710"/>
            <a:ext cx="451485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SSE 长连接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048500" y="2240280"/>
            <a:ext cx="4514850" cy="20574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ABBD4"/>
                </a:solidFill>
              </a:defRPr>
            </a:pPr>
            <a:r>
              <a:t>请求不是瞬时返回，而是持续占用连接与服务端资源。</a:t>
            </a: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838950" y="3223260"/>
            <a:ext cx="4933950" cy="1428750"/>
          </a:xfrm>
          <a:prstGeom prst="roundRect">
            <a:avLst>
              <a:gd name="adj" fmla="val 13333"/>
            </a:avLst>
          </a:prstGeom>
          <a:solidFill>
            <a:srgbClr val="10203A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048500" y="3432810"/>
            <a:ext cx="451485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外部模型依赖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048500" y="3802380"/>
            <a:ext cx="4514850" cy="20574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ABBD4"/>
                </a:solidFill>
              </a:defRPr>
            </a:pPr>
            <a:r>
              <a:t>下游模型延迟、失败、抖动都会直接影响用户体验。</a:t>
            </a: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838950" y="4785360"/>
            <a:ext cx="4933950" cy="1428750"/>
          </a:xfrm>
          <a:prstGeom prst="roundRect">
            <a:avLst>
              <a:gd name="adj" fmla="val 13333"/>
            </a:avLst>
          </a:prstGeom>
          <a:solidFill>
            <a:srgbClr val="10203A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048500" y="4994910"/>
            <a:ext cx="451485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重任务异步处理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048500" y="5364480"/>
            <a:ext cx="4514850" cy="20574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ABBD4"/>
                </a:solidFill>
              </a:defRPr>
            </a:pPr>
            <a:r>
              <a:t>文档分块、向量化、入库不能阻塞在线请求。</a:t>
            </a: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419100" y="6004560"/>
            <a:ext cx="6191250" cy="609600"/>
          </a:xfrm>
          <a:prstGeom prst="roundRect">
            <a:avLst>
              <a:gd name="adj" fmla="val 28125"/>
            </a:avLst>
          </a:prstGeom>
          <a:solidFill>
            <a:srgbClr val="0C1930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71500" y="6156960"/>
            <a:ext cx="5667375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F7FBFF"/>
                </a:solidFill>
              </a:defRPr>
            </a:pPr>
            <a:r>
              <a:t>因此，我们把展示重心放在分布式限流、故障转移、异步解耦与一致性保障上。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38950" y="6004560"/>
            <a:ext cx="9525" cy="9525"/>
          </a:xfrm>
          <a:prstGeom prst="rect">
            <a:avLst/>
          </a:prstGeom>
          <a:solidFill>
            <a:srgbClr val="081221"/>
          </a:solid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221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19100" y="419100"/>
            <a:ext cx="11353800" cy="1600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5CC2FF"/>
                </a:solidFill>
              </a:defRPr>
            </a:pPr>
            <a:r>
              <a:t>软件功能展示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19100" y="655320"/>
            <a:ext cx="11353800" cy="3886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>
                <a:solidFill>
                  <a:srgbClr val="F7FBFF"/>
                </a:solidFill>
              </a:defRPr>
            </a:pPr>
            <a:r>
              <a:t>系统不仅能回答问题，还提供后台配置与运行追踪，具备完整的工程闭环。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19100" y="1120140"/>
            <a:ext cx="11353800" cy="20574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ABBD4"/>
                </a:solidFill>
              </a:defRPr>
            </a:p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419100" y="1554480"/>
            <a:ext cx="3619500" cy="3750945"/>
          </a:xfrm>
          <a:prstGeom prst="roundRect">
            <a:avLst>
              <a:gd name="adj" fmla="val 5263"/>
            </a:avLst>
          </a:prstGeom>
          <a:solidFill>
            <a:srgbClr val="10203A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90550" y="1725930"/>
            <a:ext cx="327660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用户端：聊天问答</a:t>
            </a: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590550" y="2095500"/>
            <a:ext cx="3276600" cy="2571750"/>
          </a:xfrm>
          <a:prstGeom prst="roundRect">
            <a:avLst>
              <a:gd name="adj" fmla="val 6667"/>
            </a:avLst>
          </a:prstGeom>
          <a:solidFill>
            <a:srgbClr val="142947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742950" y="2247900"/>
            <a:ext cx="2971800" cy="323850"/>
          </a:xfrm>
          <a:prstGeom prst="roundRect">
            <a:avLst>
              <a:gd name="adj" fmla="val 29412"/>
            </a:avLst>
          </a:prstGeom>
          <a:solidFill>
            <a:srgbClr val="203C67"/>
          </a:solidFill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19150" y="2324100"/>
            <a:ext cx="1424464" cy="1828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F7FBFF"/>
                </a:solidFill>
              </a:defRPr>
            </a:pPr>
            <a:r>
              <a:t>Chat / SSE / Markdown</a:t>
            </a: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42950" y="2705100"/>
            <a:ext cx="3048000" cy="704850"/>
          </a:xfrm>
          <a:prstGeom prst="roundRect">
            <a:avLst>
              <a:gd name="adj" fmla="val 16216"/>
            </a:avLst>
          </a:prstGeom>
          <a:solidFill>
            <a:srgbClr val="17314F"/>
          </a:solidFill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742950" y="3543300"/>
            <a:ext cx="3048000" cy="704850"/>
          </a:xfrm>
          <a:prstGeom prst="roundRect">
            <a:avLst>
              <a:gd name="adj" fmla="val 16216"/>
            </a:avLst>
          </a:prstGeom>
          <a:solidFill>
            <a:srgbClr val="1E3D66"/>
          </a:solidFill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742950" y="4381500"/>
            <a:ext cx="914400" cy="76200"/>
          </a:xfrm>
          <a:prstGeom prst="roundRect">
            <a:avLst>
              <a:gd name="adj" fmla="val 50000"/>
            </a:avLst>
          </a:prstGeom>
          <a:solidFill>
            <a:srgbClr val="5CC2FF"/>
          </a:solidFill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4286250" y="1554480"/>
            <a:ext cx="3619500" cy="3750945"/>
          </a:xfrm>
          <a:prstGeom prst="roundRect">
            <a:avLst>
              <a:gd name="adj" fmla="val 5263"/>
            </a:avLst>
          </a:prstGeom>
          <a:solidFill>
            <a:srgbClr val="10203A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457700" y="1725930"/>
            <a:ext cx="327660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管理端：系统配置</a:t>
            </a: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4457700" y="2095500"/>
            <a:ext cx="3276600" cy="2571750"/>
          </a:xfrm>
          <a:prstGeom prst="roundRect">
            <a:avLst>
              <a:gd name="adj" fmla="val 6667"/>
            </a:avLst>
          </a:prstGeom>
          <a:solidFill>
            <a:srgbClr val="142947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4610100" y="2247900"/>
            <a:ext cx="2971800" cy="323850"/>
          </a:xfrm>
          <a:prstGeom prst="roundRect">
            <a:avLst>
              <a:gd name="adj" fmla="val 29412"/>
            </a:avLst>
          </a:prstGeom>
          <a:solidFill>
            <a:srgbClr val="203C67"/>
          </a:solidFill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686300" y="2324100"/>
            <a:ext cx="1608772" cy="3657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F7FBFF"/>
                </a:solidFill>
              </a:defRPr>
            </a:pPr>
            <a:r>
              <a:t>Admin / Settings / Models</a:t>
            </a: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4610100" y="2705100"/>
            <a:ext cx="3048000" cy="704850"/>
          </a:xfrm>
          <a:prstGeom prst="roundRect">
            <a:avLst>
              <a:gd name="adj" fmla="val 16216"/>
            </a:avLst>
          </a:prstGeom>
          <a:solidFill>
            <a:srgbClr val="17314F"/>
          </a:solidFill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4610100" y="3543300"/>
            <a:ext cx="3048000" cy="704850"/>
          </a:xfrm>
          <a:prstGeom prst="roundRect">
            <a:avLst>
              <a:gd name="adj" fmla="val 16216"/>
            </a:avLst>
          </a:prstGeom>
          <a:solidFill>
            <a:srgbClr val="1E3D66"/>
          </a:solidFill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4610100" y="4381500"/>
            <a:ext cx="914400" cy="76200"/>
          </a:xfrm>
          <a:prstGeom prst="roundRect">
            <a:avLst>
              <a:gd name="adj" fmla="val 50000"/>
            </a:avLst>
          </a:prstGeom>
          <a:solidFill>
            <a:srgbClr val="8FE1C4"/>
          </a:solidFill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8153400" y="1554480"/>
            <a:ext cx="3619500" cy="3750945"/>
          </a:xfrm>
          <a:prstGeom prst="roundRect">
            <a:avLst>
              <a:gd name="adj" fmla="val 5263"/>
            </a:avLst>
          </a:prstGeom>
          <a:solidFill>
            <a:srgbClr val="10203A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324850" y="1725930"/>
            <a:ext cx="327660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运维端：链路追踪</a:t>
            </a: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8324850" y="2095500"/>
            <a:ext cx="3276600" cy="2571750"/>
          </a:xfrm>
          <a:prstGeom prst="roundRect">
            <a:avLst>
              <a:gd name="adj" fmla="val 6667"/>
            </a:avLst>
          </a:prstGeom>
          <a:solidFill>
            <a:srgbClr val="142947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25" name="圆角矩形 24"/>
          <p:cNvSpPr>
            <a:spLocks noGrp="1"/>
          </p:cNvSpPr>
          <p:nvPr/>
        </p:nvSpPr>
        <p:spPr>
          <a:xfrm>
            <a:off x="8477250" y="2247900"/>
            <a:ext cx="2971800" cy="323850"/>
          </a:xfrm>
          <a:prstGeom prst="roundRect">
            <a:avLst>
              <a:gd name="adj" fmla="val 29412"/>
            </a:avLst>
          </a:prstGeom>
          <a:solidFill>
            <a:srgbClr val="203C67"/>
          </a:solidFill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553450" y="2324100"/>
            <a:ext cx="1450372" cy="1828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F7FBFF"/>
                </a:solidFill>
              </a:defRPr>
            </a:pPr>
            <a:r>
              <a:t>Trace / Stages / Metrics</a:t>
            </a: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8477250" y="2705100"/>
            <a:ext cx="3048000" cy="704850"/>
          </a:xfrm>
          <a:prstGeom prst="roundRect">
            <a:avLst>
              <a:gd name="adj" fmla="val 16216"/>
            </a:avLst>
          </a:prstGeom>
          <a:solidFill>
            <a:srgbClr val="17314F"/>
          </a:solidFill>
        </p:spPr>
      </p:sp>
      <p:sp>
        <p:nvSpPr>
          <p:cNvPr id="28" name="圆角矩形 27"/>
          <p:cNvSpPr>
            <a:spLocks noGrp="1"/>
          </p:cNvSpPr>
          <p:nvPr/>
        </p:nvSpPr>
        <p:spPr>
          <a:xfrm>
            <a:off x="8477250" y="3543300"/>
            <a:ext cx="3048000" cy="704850"/>
          </a:xfrm>
          <a:prstGeom prst="roundRect">
            <a:avLst>
              <a:gd name="adj" fmla="val 16216"/>
            </a:avLst>
          </a:prstGeom>
          <a:solidFill>
            <a:srgbClr val="1E3D66"/>
          </a:solidFill>
        </p:spPr>
      </p:sp>
      <p:sp>
        <p:nvSpPr>
          <p:cNvPr id="29" name="圆角矩形 28"/>
          <p:cNvSpPr>
            <a:spLocks noGrp="1"/>
          </p:cNvSpPr>
          <p:nvPr/>
        </p:nvSpPr>
        <p:spPr>
          <a:xfrm>
            <a:off x="8477250" y="4381500"/>
            <a:ext cx="914400" cy="76200"/>
          </a:xfrm>
          <a:prstGeom prst="roundRect">
            <a:avLst>
              <a:gd name="adj" fmla="val 50000"/>
            </a:avLst>
          </a:prstGeom>
          <a:solidFill>
            <a:srgbClr val="FFBF75"/>
          </a:solidFill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419100" y="5457825"/>
            <a:ext cx="3619500" cy="104965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AABBD4"/>
                </a:solidFill>
              </a:defRPr>
            </a:pPr>
            <a:r>
              <a:t>• 支持流式问答</a:t>
            </a:r>
          </a:p>
          <a:p>
            <a:pPr>
              <a:defRPr sz="1275">
                <a:solidFill>
                  <a:srgbClr val="AABBD4"/>
                </a:solidFill>
              </a:defRPr>
            </a:pPr>
            <a:r>
              <a:t>• 支持多轮对话</a:t>
            </a:r>
          </a:p>
          <a:p>
            <a:pPr>
              <a:defRPr sz="1275">
                <a:solidFill>
                  <a:srgbClr val="AABBD4"/>
                </a:solidFill>
              </a:defRPr>
            </a:pPr>
            <a:r>
              <a:t>• 重点体验是稳定反馈而非只追求回答生成</a:t>
            </a: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4286250" y="5457825"/>
            <a:ext cx="3619500" cy="104965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AABBD4"/>
                </a:solidFill>
              </a:defRPr>
            </a:pPr>
            <a:r>
              <a:t>• 支持知识库、模型、意图树等配置</a:t>
            </a:r>
          </a:p>
          <a:p>
            <a:pPr>
              <a:defRPr sz="1275">
                <a:solidFill>
                  <a:srgbClr val="AABBD4"/>
                </a:solidFill>
              </a:defRPr>
            </a:pPr>
            <a:r>
              <a:t>• 支持系统运维与数据管理</a:t>
            </a:r>
          </a:p>
          <a:p>
            <a:pPr>
              <a:defRPr sz="1275">
                <a:solidFill>
                  <a:srgbClr val="AABBD4"/>
                </a:solidFill>
              </a:defRPr>
            </a:pPr>
            <a:r>
              <a:t>• 能调整运行参数</a:t>
            </a: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153400" y="5457825"/>
            <a:ext cx="3619500" cy="104965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AABBD4"/>
                </a:solidFill>
              </a:defRPr>
            </a:pPr>
            <a:r>
              <a:t>• 支持查看每次请求的处理链路</a:t>
            </a:r>
          </a:p>
          <a:p>
            <a:pPr>
              <a:defRPr sz="1275">
                <a:solidFill>
                  <a:srgbClr val="AABBD4"/>
                </a:solidFill>
              </a:defRPr>
            </a:pPr>
            <a:r>
              <a:t>• 可定位检索、路由、生成阶段问题</a:t>
            </a:r>
          </a:p>
          <a:p>
            <a:pPr>
              <a:defRPr sz="1275">
                <a:solidFill>
                  <a:srgbClr val="AABBD4"/>
                </a:solidFill>
              </a:defRPr>
            </a:pPr>
            <a:r>
              <a:t>• 提升故障排查效率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221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19100" y="419100"/>
            <a:ext cx="11353800" cy="1600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5CC2FF"/>
                </a:solidFill>
              </a:defRPr>
            </a:pPr>
            <a:r>
              <a:t>问题分析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19100" y="655320"/>
            <a:ext cx="11353800" cy="3886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>
                <a:solidFill>
                  <a:srgbClr val="F7FBFF"/>
                </a:solidFill>
              </a:defRPr>
            </a:pPr>
            <a:r>
              <a:t>一个“问答系统”</a:t>
            </a:r>
            <a:r>
              <a:rPr lang="zh-CN">
                <a:ea typeface="宋体" panose="02010600030101010101" pitchFamily="2" charset="-122"/>
              </a:rPr>
              <a:t>有哪些</a:t>
            </a:r>
            <a:r>
              <a:t>分布式系统问题？</a:t>
            </a: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419100" y="1272540"/>
            <a:ext cx="11353800" cy="1219200"/>
          </a:xfrm>
          <a:prstGeom prst="roundRect">
            <a:avLst>
              <a:gd name="adj" fmla="val 15625"/>
            </a:avLst>
          </a:prstGeom>
          <a:solidFill>
            <a:srgbClr val="142947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482090"/>
            <a:ext cx="109347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>
                <a:solidFill>
                  <a:srgbClr val="F7FBFF"/>
                </a:solidFill>
              </a:defRPr>
            </a:pPr>
            <a:r>
              <a:t>场景本质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1920240"/>
            <a:ext cx="10934700" cy="24003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F7FBFF"/>
                </a:solidFill>
              </a:defRPr>
            </a:pPr>
            <a:r>
              <a:t>请求是长连接、耗时不稳定、依赖外部服务，并且存在异步重任务与多实例共享状态。</a:t>
            </a: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19100" y="2967990"/>
            <a:ext cx="2114550" cy="1885950"/>
          </a:xfrm>
          <a:prstGeom prst="roundRect">
            <a:avLst>
              <a:gd name="adj" fmla="val 10101"/>
            </a:avLst>
          </a:prstGeom>
          <a:solidFill>
            <a:srgbClr val="10203A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28650" y="3177540"/>
            <a:ext cx="169545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并发控制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8650" y="3547110"/>
            <a:ext cx="1695450" cy="82296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ABBD4"/>
                </a:solidFill>
              </a:defRPr>
            </a:pPr>
            <a:r>
              <a:t>大量 SSE 请求同时进入时，不能让服务和下游模型被打爆。</a:t>
            </a: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2686050" y="2967990"/>
            <a:ext cx="2114550" cy="1885950"/>
          </a:xfrm>
          <a:prstGeom prst="roundRect">
            <a:avLst>
              <a:gd name="adj" fmla="val 10101"/>
            </a:avLst>
          </a:prstGeom>
          <a:solidFill>
            <a:srgbClr val="10203A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895600" y="3177540"/>
            <a:ext cx="169545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可用性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895600" y="3547110"/>
            <a:ext cx="1695450" cy="6172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ABBD4"/>
                </a:solidFill>
              </a:defRPr>
            </a:pPr>
            <a:r>
              <a:t>单个模型失败、变慢、抖动时，服务不能整体失效。</a:t>
            </a: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4953000" y="2967990"/>
            <a:ext cx="2114550" cy="1885950"/>
          </a:xfrm>
          <a:prstGeom prst="roundRect">
            <a:avLst>
              <a:gd name="adj" fmla="val 10101"/>
            </a:avLst>
          </a:prstGeom>
          <a:solidFill>
            <a:srgbClr val="10203A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162550" y="3177540"/>
            <a:ext cx="169545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异步削峰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162550" y="3547110"/>
            <a:ext cx="1695450" cy="6172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ABBD4"/>
                </a:solidFill>
              </a:defRPr>
            </a:pPr>
            <a:r>
              <a:t>文档分块与向量化属于重任务，必须与在线请求解耦。</a:t>
            </a: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219950" y="2967990"/>
            <a:ext cx="2114550" cy="1885950"/>
          </a:xfrm>
          <a:prstGeom prst="roundRect">
            <a:avLst>
              <a:gd name="adj" fmla="val 10101"/>
            </a:avLst>
          </a:prstGeom>
          <a:solidFill>
            <a:srgbClr val="10203A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429500" y="3177540"/>
            <a:ext cx="169545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状态一致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429500" y="3547110"/>
            <a:ext cx="1695450" cy="6172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ABBD4"/>
                </a:solidFill>
              </a:defRPr>
            </a:pPr>
            <a:r>
              <a:t>多实例共享缓存、锁、消息与 ID，需要可控协同。</a:t>
            </a: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9486900" y="2967990"/>
            <a:ext cx="2114550" cy="1885950"/>
          </a:xfrm>
          <a:prstGeom prst="roundRect">
            <a:avLst>
              <a:gd name="adj" fmla="val 10101"/>
            </a:avLst>
          </a:prstGeom>
          <a:solidFill>
            <a:srgbClr val="10203A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696450" y="3177540"/>
            <a:ext cx="169545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可观测性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696450" y="3547110"/>
            <a:ext cx="1695450" cy="6172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ABBD4"/>
                </a:solidFill>
              </a:defRPr>
            </a:pPr>
            <a:r>
              <a:t>链路长且阶段多，问题必须能被追踪与定位。</a:t>
            </a: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419100" y="5330190"/>
            <a:ext cx="11353800" cy="609600"/>
          </a:xfrm>
          <a:prstGeom prst="roundRect">
            <a:avLst>
              <a:gd name="adj" fmla="val 28125"/>
            </a:avLst>
          </a:prstGeom>
          <a:solidFill>
            <a:srgbClr val="0C1930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71500" y="5482590"/>
            <a:ext cx="6262116" cy="3886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F7FBFF"/>
                </a:solidFill>
              </a:defRPr>
            </a:pPr>
            <a:r>
              <a:t>因此，系统设计目标从“能回答”升级为“高并发下稳、故障时可降级、问题出现能定位”。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8890"/>
            <a:ext cx="12192000" cy="6858000"/>
          </a:xfrm>
          <a:prstGeom prst="rect">
            <a:avLst/>
          </a:prstGeom>
          <a:solidFill>
            <a:srgbClr val="081221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19100" y="419100"/>
            <a:ext cx="11353800" cy="1600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5CC2FF"/>
                </a:solidFill>
              </a:defRPr>
            </a:pPr>
            <a:r>
              <a:t>挑战一：高并发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19100" y="655320"/>
            <a:ext cx="11353800" cy="77724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>
                <a:solidFill>
                  <a:srgbClr val="F7FBFF"/>
                </a:solidFill>
              </a:defRPr>
            </a:pPr>
            <a:r>
              <a:t>高并发下，我们用公平排队替代简单拒绝，</a:t>
            </a:r>
          </a:p>
          <a:p>
            <a:pPr>
              <a:defRPr sz="2550">
                <a:solidFill>
                  <a:srgbClr val="F7FBFF"/>
                </a:solidFill>
              </a:defRPr>
            </a:pPr>
            <a:r>
              <a:t>把“打垮系统”变成“受控等待”。</a:t>
            </a: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419100" y="1661160"/>
            <a:ext cx="6858000" cy="800100"/>
          </a:xfrm>
          <a:prstGeom prst="roundRect">
            <a:avLst>
              <a:gd name="adj" fmla="val 21429"/>
            </a:avLst>
          </a:prstGeom>
          <a:solidFill>
            <a:srgbClr val="10203A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590550" y="183261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5CC2FF"/>
          </a:solidFill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42283" y="1918335"/>
            <a:ext cx="96584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081221"/>
                </a:solidFill>
              </a:defRPr>
            </a:pPr>
            <a:r>
              <a:t>1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23950" y="1832610"/>
            <a:ext cx="5981700" cy="24003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F7FBFF"/>
                </a:solidFill>
              </a:defRPr>
            </a:pPr>
            <a:r>
              <a:t>请求入队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3950" y="2129790"/>
            <a:ext cx="5981700" cy="1828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AABBD4"/>
                </a:solidFill>
              </a:defRPr>
            </a:pPr>
            <a:r>
              <a:t>请求先进入 Redis ZSet 队列，按顺序排队。</a:t>
            </a: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19100" y="2737485"/>
            <a:ext cx="6858000" cy="800100"/>
          </a:xfrm>
          <a:prstGeom prst="roundRect">
            <a:avLst>
              <a:gd name="adj" fmla="val 21429"/>
            </a:avLst>
          </a:prstGeom>
          <a:solidFill>
            <a:srgbClr val="10203A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590550" y="2908935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8FE1C4"/>
          </a:solidFill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42283" y="2994660"/>
            <a:ext cx="96584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081221"/>
                </a:solidFill>
              </a:defRPr>
            </a:pPr>
            <a:r>
              <a:t>2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23950" y="2908935"/>
            <a:ext cx="5981700" cy="24003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F7FBFF"/>
                </a:solidFill>
              </a:defRPr>
            </a:pPr>
            <a:r>
              <a:t>原子 claim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23950" y="3206115"/>
            <a:ext cx="5981700" cy="1828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AABBD4"/>
                </a:solidFill>
              </a:defRPr>
            </a:pPr>
            <a:r>
              <a:t>Lua 脚本保证只有队头请求能尝试领取执行资格。</a:t>
            </a: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19100" y="3813810"/>
            <a:ext cx="6858000" cy="800100"/>
          </a:xfrm>
          <a:prstGeom prst="roundRect">
            <a:avLst>
              <a:gd name="adj" fmla="val 21429"/>
            </a:avLst>
          </a:prstGeom>
          <a:solidFill>
            <a:srgbClr val="10203A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590550" y="398526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FFBF75"/>
          </a:solidFill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42283" y="4070985"/>
            <a:ext cx="96584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081221"/>
                </a:solidFill>
              </a:defRPr>
            </a:pPr>
            <a:r>
              <a:t>3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123950" y="3985260"/>
            <a:ext cx="5981700" cy="24003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F7FBFF"/>
                </a:solidFill>
              </a:defRPr>
            </a:pPr>
            <a:r>
              <a:t>信号量控并发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23950" y="4282440"/>
            <a:ext cx="5981700" cy="1828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AABBD4"/>
                </a:solidFill>
              </a:defRPr>
            </a:pPr>
            <a:r>
              <a:t>Redisson 分布式信号量控制全局最大并发数。</a:t>
            </a: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419100" y="4890135"/>
            <a:ext cx="6858000" cy="800100"/>
          </a:xfrm>
          <a:prstGeom prst="roundRect">
            <a:avLst>
              <a:gd name="adj" fmla="val 21429"/>
            </a:avLst>
          </a:prstGeom>
          <a:solidFill>
            <a:srgbClr val="10203A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590550" y="5061585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FF8B7A"/>
          </a:solidFill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42283" y="5147310"/>
            <a:ext cx="96584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081221"/>
                </a:solidFill>
              </a:defRPr>
            </a:pPr>
            <a:r>
              <a:t>4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123950" y="5061585"/>
            <a:ext cx="5981700" cy="24003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75">
                <a:solidFill>
                  <a:srgbClr val="F7FBFF"/>
                </a:solidFill>
              </a:defRPr>
            </a:pPr>
            <a:r>
              <a:t>SSE 实时反馈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23950" y="5358765"/>
            <a:ext cx="5981700" cy="1828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AABBD4"/>
                </a:solidFill>
              </a:defRPr>
            </a:pPr>
            <a:r>
              <a:t>排队、执行、拒绝状态通过 SSE 及时反馈给前端。</a:t>
            </a: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7505700" y="1661160"/>
            <a:ext cx="4267200" cy="952500"/>
          </a:xfrm>
          <a:prstGeom prst="roundRect">
            <a:avLst>
              <a:gd name="adj" fmla="val 20000"/>
            </a:avLst>
          </a:prstGeom>
          <a:solidFill>
            <a:srgbClr val="142947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715250" y="1870710"/>
            <a:ext cx="384810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核心机制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715250" y="2240280"/>
            <a:ext cx="3848100" cy="20574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F7FBFF"/>
                </a:solidFill>
              </a:defRPr>
            </a:pPr>
            <a:r>
              <a:t>Redis + Redisson + ZSet + Lua + SSE</a:t>
            </a: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7505700" y="2899410"/>
            <a:ext cx="4267200" cy="1181100"/>
          </a:xfrm>
          <a:prstGeom prst="roundRect">
            <a:avLst>
              <a:gd name="adj" fmla="val 16129"/>
            </a:avLst>
          </a:prstGeom>
          <a:solidFill>
            <a:srgbClr val="10203A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715250" y="3108960"/>
            <a:ext cx="384810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用户体验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715250" y="3478530"/>
            <a:ext cx="3848100" cy="4114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ABBD4"/>
                </a:solidFill>
              </a:defRPr>
            </a:pPr>
            <a:r>
              <a:t>不是粗暴报错，而是“可等待、可拒绝、可感知”的受控流量管理。</a:t>
            </a: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7505700" y="4366260"/>
            <a:ext cx="4267200" cy="1314450"/>
          </a:xfrm>
          <a:prstGeom prst="roundRect">
            <a:avLst>
              <a:gd name="adj" fmla="val 14493"/>
            </a:avLst>
          </a:prstGeom>
          <a:solidFill>
            <a:srgbClr val="10203A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7715250" y="4575810"/>
            <a:ext cx="384810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关键优化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715250" y="4945380"/>
            <a:ext cx="3848100" cy="4114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ABBD4"/>
                </a:solidFill>
              </a:defRPr>
            </a:pPr>
            <a:r>
              <a:t>拒绝事件优先返回，落库异步化，避免高并发下拒绝延迟被数据库拖慢。</a:t>
            </a: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419100" y="6004560"/>
            <a:ext cx="6858000" cy="609600"/>
          </a:xfrm>
          <a:prstGeom prst="roundRect">
            <a:avLst>
              <a:gd name="adj" fmla="val 28125"/>
            </a:avLst>
          </a:prstGeom>
          <a:solidFill>
            <a:srgbClr val="0C1930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571500" y="6156960"/>
            <a:ext cx="5343525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F7FBFF"/>
                </a:solidFill>
              </a:defRPr>
            </a:pPr>
            <a:r>
              <a:t>用分布式队列与并发控制机制保护入口稳定性。</a:t>
            </a: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7505700" y="6004560"/>
            <a:ext cx="4267200" cy="457200"/>
          </a:xfrm>
          <a:prstGeom prst="roundRect">
            <a:avLst>
              <a:gd name="adj" fmla="val 41667"/>
            </a:avLst>
          </a:prstGeom>
          <a:solidFill>
            <a:srgbClr val="10203A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7600950" y="6099810"/>
            <a:ext cx="407670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为什么不用令牌桶</a:t>
            </a: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600950" y="6469380"/>
            <a:ext cx="4076700" cy="1600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AABBD4"/>
                </a:solidFill>
              </a:defRPr>
            </a:pPr>
            <a:r>
              <a:t>这里更关注“同时处理多少请求”和“公平排队”，而不是单纯控制 QPS。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8890"/>
            <a:ext cx="12192000" cy="6858000"/>
          </a:xfrm>
          <a:prstGeom prst="rect">
            <a:avLst/>
          </a:prstGeom>
          <a:solidFill>
            <a:srgbClr val="081221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19100" y="419100"/>
            <a:ext cx="11353800" cy="1600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5CC2FF"/>
                </a:solidFill>
              </a:defRPr>
            </a:pPr>
            <a:r>
              <a:t>挑战二：高可用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19100" y="655320"/>
            <a:ext cx="11353800" cy="77724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>
                <a:solidFill>
                  <a:srgbClr val="F7FBFF"/>
                </a:solidFill>
              </a:defRPr>
            </a:pPr>
            <a:r>
              <a:t>单个模型故障，不会直接把服务打挂；</a:t>
            </a:r>
          </a:p>
          <a:p>
            <a:pPr>
              <a:defRPr sz="2550">
                <a:solidFill>
                  <a:srgbClr val="F7FBFF"/>
                </a:solidFill>
              </a:defRPr>
            </a:pPr>
            <a:r>
              <a:t>系统会自动探测、熔断与切换候选模型。</a:t>
            </a: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419100" y="1661160"/>
            <a:ext cx="2095500" cy="1181100"/>
          </a:xfrm>
          <a:prstGeom prst="roundRect">
            <a:avLst>
              <a:gd name="adj" fmla="val 16129"/>
            </a:avLst>
          </a:prstGeom>
          <a:solidFill>
            <a:srgbClr val="142947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870710"/>
            <a:ext cx="167640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候选模型 A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2240280"/>
            <a:ext cx="1676400" cy="4114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ABBD4"/>
                </a:solidFill>
              </a:defRPr>
            </a:pPr>
            <a:r>
              <a:t>优先级最高，正常时优先承担流量。</a:t>
            </a: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2609850" y="1661160"/>
            <a:ext cx="304800" cy="76200"/>
          </a:xfrm>
          <a:prstGeom prst="roundRect">
            <a:avLst>
              <a:gd name="adj" fmla="val 50000"/>
            </a:avLst>
          </a:prstGeom>
          <a:solidFill>
            <a:srgbClr val="5CC2FF"/>
          </a:solidFill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3009900" y="1661160"/>
            <a:ext cx="2095500" cy="1181100"/>
          </a:xfrm>
          <a:prstGeom prst="roundRect">
            <a:avLst>
              <a:gd name="adj" fmla="val 16129"/>
            </a:avLst>
          </a:prstGeom>
          <a:solidFill>
            <a:srgbClr val="10203A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219450" y="1870710"/>
            <a:ext cx="167640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候选模型 B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219450" y="2240280"/>
            <a:ext cx="1676400" cy="4114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ABBD4"/>
                </a:solidFill>
              </a:defRPr>
            </a:pPr>
            <a:r>
              <a:t>首选失败后，自动切到下一候选</a:t>
            </a: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5200650" y="1661160"/>
            <a:ext cx="304800" cy="76200"/>
          </a:xfrm>
          <a:prstGeom prst="roundRect">
            <a:avLst>
              <a:gd name="adj" fmla="val 50000"/>
            </a:avLst>
          </a:prstGeom>
          <a:solidFill>
            <a:srgbClr val="8FE1C4"/>
          </a:solidFill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5600700" y="1661160"/>
            <a:ext cx="2095500" cy="1181100"/>
          </a:xfrm>
          <a:prstGeom prst="roundRect">
            <a:avLst>
              <a:gd name="adj" fmla="val 16129"/>
            </a:avLst>
          </a:prstGeom>
          <a:solidFill>
            <a:srgbClr val="10203A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810250" y="1870710"/>
            <a:ext cx="167640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候选模型 C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810250" y="2240280"/>
            <a:ext cx="1676400" cy="4114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ABBD4"/>
                </a:solidFill>
              </a:defRPr>
            </a:pPr>
            <a:r>
              <a:t>作为兜底候选，避免单点故障。</a:t>
            </a: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7791450" y="1661160"/>
            <a:ext cx="304800" cy="76200"/>
          </a:xfrm>
          <a:prstGeom prst="roundRect">
            <a:avLst>
              <a:gd name="adj" fmla="val 50000"/>
            </a:avLst>
          </a:prstGeom>
          <a:solidFill>
            <a:srgbClr val="FFBF75"/>
          </a:solidFill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8191500" y="1661160"/>
            <a:ext cx="2095500" cy="1181100"/>
          </a:xfrm>
          <a:prstGeom prst="roundRect">
            <a:avLst>
              <a:gd name="adj" fmla="val 16129"/>
            </a:avLst>
          </a:prstGeom>
          <a:solidFill>
            <a:srgbClr val="142947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401050" y="1870710"/>
            <a:ext cx="167640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返回用户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401050" y="2240280"/>
            <a:ext cx="1676400" cy="6172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ABBD4"/>
                </a:solidFill>
              </a:defRPr>
            </a:pPr>
            <a:r>
              <a:t>用户看到的是连续服务，而不是某个模型的内部故障。</a:t>
            </a: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419100" y="3356610"/>
            <a:ext cx="3619500" cy="1809750"/>
          </a:xfrm>
          <a:prstGeom prst="roundRect">
            <a:avLst>
              <a:gd name="adj" fmla="val 10526"/>
            </a:avLst>
          </a:prstGeom>
          <a:solidFill>
            <a:srgbClr val="10203A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28650" y="3566160"/>
            <a:ext cx="320040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优先级路由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28650" y="3935730"/>
            <a:ext cx="3200400" cy="20574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ABBD4"/>
                </a:solidFill>
              </a:defRPr>
            </a:pPr>
            <a:r>
              <a:t>根据能力与优先级选择模型候选列表。</a:t>
            </a: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4286250" y="3356610"/>
            <a:ext cx="3619500" cy="1809750"/>
          </a:xfrm>
          <a:prstGeom prst="roundRect">
            <a:avLst>
              <a:gd name="adj" fmla="val 10526"/>
            </a:avLst>
          </a:prstGeom>
          <a:solidFill>
            <a:srgbClr val="10203A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495800" y="3566160"/>
            <a:ext cx="320040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三态熔断器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495800" y="3935730"/>
            <a:ext cx="3200400" cy="4114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ABBD4"/>
                </a:solidFill>
              </a:defRPr>
            </a:pPr>
            <a:r>
              <a:t>CLOSED → OPEN → HALF_OPEN，避免持续调用已故障模型。</a:t>
            </a: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8153400" y="3356610"/>
            <a:ext cx="3619500" cy="1809750"/>
          </a:xfrm>
          <a:prstGeom prst="roundRect">
            <a:avLst>
              <a:gd name="adj" fmla="val 10526"/>
            </a:avLst>
          </a:prstGeom>
          <a:solidFill>
            <a:srgbClr val="10203A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362950" y="3566160"/>
            <a:ext cx="320040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首包探测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362950" y="3935730"/>
            <a:ext cx="3200400" cy="4114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ABBD4"/>
                </a:solidFill>
              </a:defRPr>
            </a:pPr>
            <a:r>
              <a:t>先缓冲首包，确认模型可用后再向用户推送，防止脏数据外泄。</a:t>
            </a: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419100" y="5680710"/>
            <a:ext cx="11353800" cy="609600"/>
          </a:xfrm>
          <a:prstGeom prst="roundRect">
            <a:avLst>
              <a:gd name="adj" fmla="val 28125"/>
            </a:avLst>
          </a:prstGeom>
          <a:solidFill>
            <a:srgbClr val="0C1930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571500" y="5833110"/>
            <a:ext cx="4533900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F7FBFF"/>
                </a:solidFill>
              </a:defRPr>
            </a:pPr>
            <a:r>
              <a:t>高可用设计：故障隔离、自动降级、无感切换。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221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19100" y="419100"/>
            <a:ext cx="11353800" cy="1600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5CC2FF"/>
                </a:solidFill>
              </a:defRPr>
            </a:pPr>
            <a:r>
              <a:t>挑战三：异步解耦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19100" y="655320"/>
            <a:ext cx="11353800" cy="77724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>
                <a:solidFill>
                  <a:srgbClr val="F7FBFF"/>
                </a:solidFill>
              </a:defRPr>
            </a:pPr>
            <a:r>
              <a:t>重任务从在线链路拆出去，同时用事务消息保证“状态变更”和“消息投递”最终一致。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19100" y="1508760"/>
            <a:ext cx="11353800" cy="20574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ABBD4"/>
                </a:solidFill>
              </a:defRPr>
            </a:pPr>
            <a:r>
              <a:t>异步解耦、最终一致性、削峰填谷。</a:t>
            </a: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419100" y="1943100"/>
            <a:ext cx="1714500" cy="1295400"/>
          </a:xfrm>
          <a:prstGeom prst="roundRect">
            <a:avLst>
              <a:gd name="adj" fmla="val 14706"/>
            </a:avLst>
          </a:prstGeom>
          <a:solidFill>
            <a:srgbClr val="142947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2152650"/>
            <a:ext cx="1295400" cy="54864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用户触发分块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28650" y="2796540"/>
            <a:ext cx="1295400" cy="20574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ABBD4"/>
                </a:solidFill>
              </a:defRPr>
            </a:pPr>
            <a:r>
              <a:t>发起 startChunk</a:t>
            </a: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2209800" y="1943100"/>
            <a:ext cx="228600" cy="76200"/>
          </a:xfrm>
          <a:prstGeom prst="roundRect">
            <a:avLst>
              <a:gd name="adj" fmla="val 50000"/>
            </a:avLst>
          </a:prstGeom>
          <a:solidFill>
            <a:srgbClr val="5CC2FF"/>
          </a:solidFill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2514600" y="1943100"/>
            <a:ext cx="1714500" cy="1295400"/>
          </a:xfrm>
          <a:prstGeom prst="roundRect">
            <a:avLst>
              <a:gd name="adj" fmla="val 14706"/>
            </a:avLst>
          </a:prstGeom>
          <a:solidFill>
            <a:srgbClr val="10203A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724150" y="2152650"/>
            <a:ext cx="1295400" cy="54864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发送 Half Message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724150" y="2796540"/>
            <a:ext cx="1295400" cy="4114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ABBD4"/>
                </a:solidFill>
              </a:defRPr>
            </a:pPr>
            <a:r>
              <a:t>RocketMQ 先落半消息</a:t>
            </a: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4305300" y="1943100"/>
            <a:ext cx="228600" cy="76200"/>
          </a:xfrm>
          <a:prstGeom prst="roundRect">
            <a:avLst>
              <a:gd name="adj" fmla="val 50000"/>
            </a:avLst>
          </a:prstGeom>
          <a:solidFill>
            <a:srgbClr val="8FE1C4"/>
          </a:solidFill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4610100" y="1943100"/>
            <a:ext cx="1714500" cy="1295400"/>
          </a:xfrm>
          <a:prstGeom prst="roundRect">
            <a:avLst>
              <a:gd name="adj" fmla="val 14706"/>
            </a:avLst>
          </a:prstGeom>
          <a:solidFill>
            <a:srgbClr val="10203A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819650" y="2152650"/>
            <a:ext cx="1295400" cy="54864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执行本地事务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819650" y="2796540"/>
            <a:ext cx="1295400" cy="4114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ABBD4"/>
                </a:solidFill>
              </a:defRPr>
            </a:pPr>
            <a:r>
              <a:t>文档状态切到 RUNNING</a:t>
            </a: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400800" y="1943100"/>
            <a:ext cx="228600" cy="76200"/>
          </a:xfrm>
          <a:prstGeom prst="roundRect">
            <a:avLst>
              <a:gd name="adj" fmla="val 50000"/>
            </a:avLst>
          </a:prstGeom>
          <a:solidFill>
            <a:srgbClr val="FFBF75"/>
          </a:solidFill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6705600" y="1943100"/>
            <a:ext cx="1714500" cy="1295400"/>
          </a:xfrm>
          <a:prstGeom prst="roundRect">
            <a:avLst>
              <a:gd name="adj" fmla="val 14706"/>
            </a:avLst>
          </a:prstGeom>
          <a:solidFill>
            <a:srgbClr val="10203A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915150" y="2152650"/>
            <a:ext cx="1295400" cy="54864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消费者异步处理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915150" y="2796540"/>
            <a:ext cx="1295400" cy="4114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ABBD4"/>
                </a:solidFill>
              </a:defRPr>
            </a:pPr>
            <a:r>
              <a:t>分块、向量化、持久化</a:t>
            </a: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8496300" y="1943100"/>
            <a:ext cx="228600" cy="76200"/>
          </a:xfrm>
          <a:prstGeom prst="roundRect">
            <a:avLst>
              <a:gd name="adj" fmla="val 50000"/>
            </a:avLst>
          </a:prstGeom>
          <a:solidFill>
            <a:srgbClr val="FF8B7A"/>
          </a:solidFill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8801100" y="1943100"/>
            <a:ext cx="1714500" cy="1295400"/>
          </a:xfrm>
          <a:prstGeom prst="roundRect">
            <a:avLst>
              <a:gd name="adj" fmla="val 14706"/>
            </a:avLst>
          </a:prstGeom>
          <a:solidFill>
            <a:srgbClr val="142947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010650" y="2152650"/>
            <a:ext cx="129540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状态完成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010650" y="2522220"/>
            <a:ext cx="1295400" cy="20574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ABBD4"/>
                </a:solidFill>
              </a:defRPr>
            </a:pPr>
            <a:r>
              <a:t>SUCCESS / FAILED</a:t>
            </a: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419100" y="4257675"/>
            <a:ext cx="3619500" cy="1809750"/>
          </a:xfrm>
          <a:prstGeom prst="roundRect">
            <a:avLst>
              <a:gd name="adj" fmla="val 10526"/>
            </a:avLst>
          </a:prstGeom>
          <a:solidFill>
            <a:srgbClr val="10203A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28650" y="4467225"/>
            <a:ext cx="320040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为什么要用 MQ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28650" y="4836795"/>
            <a:ext cx="3200400" cy="4114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ABBD4"/>
                </a:solidFill>
              </a:defRPr>
            </a:pPr>
            <a:r>
              <a:t>在线请求不必等待重任务完成，避免阻塞前台交互。</a:t>
            </a: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4286250" y="4257675"/>
            <a:ext cx="3619500" cy="1809750"/>
          </a:xfrm>
          <a:prstGeom prst="roundRect">
            <a:avLst>
              <a:gd name="adj" fmla="val 10526"/>
            </a:avLst>
          </a:prstGeom>
          <a:solidFill>
            <a:srgbClr val="10203A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4495800" y="4467225"/>
            <a:ext cx="320040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为什么要用事务消息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495800" y="4836795"/>
            <a:ext cx="3200400" cy="4114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ABBD4"/>
                </a:solidFill>
              </a:defRPr>
            </a:pPr>
            <a:r>
              <a:t>保证“本地状态更新”和“消息可消费”不会出现前后不一致。</a:t>
            </a: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8153400" y="4257675"/>
            <a:ext cx="3619500" cy="1809750"/>
          </a:xfrm>
          <a:prstGeom prst="roundRect">
            <a:avLst>
              <a:gd name="adj" fmla="val 10526"/>
            </a:avLst>
          </a:prstGeom>
          <a:solidFill>
            <a:srgbClr val="142947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362950" y="4467225"/>
            <a:ext cx="320040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系统收益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362950" y="4836795"/>
            <a:ext cx="3200400" cy="4114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ABBD4"/>
                </a:solidFill>
              </a:defRPr>
            </a:pPr>
            <a:r>
              <a:t>削峰填谷、隔离重任务、提升整体吞吐与可靠性。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221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19100" y="419100"/>
            <a:ext cx="11353800" cy="1600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5CC2FF"/>
                </a:solidFill>
              </a:defRPr>
            </a:pPr>
            <a:r>
              <a:t>挑战四：一致性与可观测性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19100" y="655320"/>
            <a:ext cx="11353800" cy="3886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>
                <a:solidFill>
                  <a:srgbClr val="F7FBFF"/>
                </a:solidFill>
              </a:defRPr>
            </a:pPr>
            <a:r>
              <a:t>多实例部署下，不只是“把服务跑起来”，还要让共享状态可控、问题可定位。</a:t>
            </a: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419100" y="1272540"/>
            <a:ext cx="5543550" cy="1447800"/>
          </a:xfrm>
          <a:prstGeom prst="roundRect">
            <a:avLst>
              <a:gd name="adj" fmla="val 13158"/>
            </a:avLst>
          </a:prstGeom>
          <a:solidFill>
            <a:srgbClr val="142947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482090"/>
            <a:ext cx="512445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Redis 缓存意图树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1851660"/>
            <a:ext cx="5124450" cy="4114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ABBD4"/>
                </a:solidFill>
              </a:defRPr>
            </a:pPr>
            <a:r>
              <a:t>避免每次都从数据库加载复杂树结构，降低读放大并支撑多实例共享缓存。</a:t>
            </a: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229350" y="1272540"/>
            <a:ext cx="5543550" cy="1447800"/>
          </a:xfrm>
          <a:prstGeom prst="roundRect">
            <a:avLst>
              <a:gd name="adj" fmla="val 13158"/>
            </a:avLst>
          </a:prstGeom>
          <a:solidFill>
            <a:srgbClr val="10203A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438900" y="1482090"/>
            <a:ext cx="512445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Redisson 分布式锁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438900" y="1851660"/>
            <a:ext cx="5124450" cy="4114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ABBD4"/>
                </a:solidFill>
              </a:defRPr>
            </a:pPr>
            <a:r>
              <a:t>摘要压缩、调度刷新等场景通过分布式锁避免并发执行造成状态错乱。</a:t>
            </a: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19100" y="2980690"/>
            <a:ext cx="5543550" cy="1447800"/>
          </a:xfrm>
          <a:prstGeom prst="roundRect">
            <a:avLst>
              <a:gd name="adj" fmla="val 13158"/>
            </a:avLst>
          </a:prstGeom>
          <a:solidFill>
            <a:srgbClr val="10203A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3190240"/>
            <a:ext cx="512445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Snowflake 分布式 ID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28650" y="3559810"/>
            <a:ext cx="5124450" cy="4114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ABBD4"/>
                </a:solidFill>
              </a:defRPr>
            </a:pPr>
            <a:r>
              <a:t>在多节点环境中生成全局唯一 ID，避免本地自增 ID 带来的冲突问题。</a:t>
            </a: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229350" y="2980690"/>
            <a:ext cx="5543550" cy="1447800"/>
          </a:xfrm>
          <a:prstGeom prst="roundRect">
            <a:avLst>
              <a:gd name="adj" fmla="val 13158"/>
            </a:avLst>
          </a:prstGeom>
          <a:solidFill>
            <a:srgbClr val="142947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438900" y="3190240"/>
            <a:ext cx="512445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RagTrace 全链路追踪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438900" y="3559810"/>
            <a:ext cx="5124450" cy="4114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ABBD4"/>
                </a:solidFill>
              </a:defRPr>
            </a:pPr>
            <a:r>
              <a:t>把改写、意图、检索、重排、生成等阶段全部串起来，便于定位瓶颈与异常。</a:t>
            </a: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419100" y="4688840"/>
            <a:ext cx="1485900" cy="400050"/>
          </a:xfrm>
          <a:prstGeom prst="roundRect">
            <a:avLst>
              <a:gd name="adj" fmla="val 50000"/>
            </a:avLst>
          </a:prstGeom>
          <a:solidFill>
            <a:srgbClr val="0E2138"/>
          </a:solidFill>
          <a:ln w="9525">
            <a:solidFill>
              <a:srgbClr val="5CC2F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14350" y="4775200"/>
            <a:ext cx="1125855" cy="1917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5CC2FF"/>
                </a:solidFill>
              </a:defRPr>
            </a:pPr>
            <a:r>
              <a:t>query-rewrite</a:t>
            </a: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2057400" y="4688840"/>
            <a:ext cx="1485900" cy="400050"/>
          </a:xfrm>
          <a:prstGeom prst="roundRect">
            <a:avLst>
              <a:gd name="adj" fmla="val 50000"/>
            </a:avLst>
          </a:prstGeom>
          <a:solidFill>
            <a:srgbClr val="0E2138"/>
          </a:solidFill>
          <a:ln w="9525">
            <a:solidFill>
              <a:srgbClr val="8FE1C4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2152650" y="4775200"/>
            <a:ext cx="1280160" cy="19177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8FE1C4"/>
                </a:solidFill>
              </a:defRPr>
            </a:pPr>
            <a:r>
              <a:t>intent-classify</a:t>
            </a: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3695700" y="4688840"/>
            <a:ext cx="1485900" cy="400050"/>
          </a:xfrm>
          <a:prstGeom prst="roundRect">
            <a:avLst>
              <a:gd name="adj" fmla="val 50000"/>
            </a:avLst>
          </a:prstGeom>
          <a:solidFill>
            <a:srgbClr val="0E2138"/>
          </a:solidFill>
          <a:ln w="9525">
            <a:solidFill>
              <a:srgbClr val="FFBF75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3790950" y="4784090"/>
            <a:ext cx="483489" cy="1828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FFBF75"/>
                </a:solidFill>
              </a:defRPr>
            </a:pPr>
            <a:r>
              <a:t>retrieve</a:t>
            </a: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5334000" y="4688840"/>
            <a:ext cx="1485900" cy="400050"/>
          </a:xfrm>
          <a:prstGeom prst="roundRect">
            <a:avLst>
              <a:gd name="adj" fmla="val 50000"/>
            </a:avLst>
          </a:prstGeom>
          <a:solidFill>
            <a:srgbClr val="0E2138"/>
          </a:solidFill>
          <a:ln w="9525">
            <a:solidFill>
              <a:srgbClr val="FF8B7A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429250" y="4784090"/>
            <a:ext cx="399288" cy="1828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FF8B7A"/>
                </a:solidFill>
              </a:defRPr>
            </a:pPr>
            <a:r>
              <a:t>rerank</a:t>
            </a: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6972300" y="4688840"/>
            <a:ext cx="1485900" cy="400050"/>
          </a:xfrm>
          <a:prstGeom prst="roundRect">
            <a:avLst>
              <a:gd name="adj" fmla="val 50000"/>
            </a:avLst>
          </a:prstGeom>
          <a:solidFill>
            <a:srgbClr val="0E2138"/>
          </a:solidFill>
          <a:ln w="9525">
            <a:solidFill>
              <a:srgbClr val="5CC2FF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067550" y="4784090"/>
            <a:ext cx="900208" cy="1828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5CC2FF"/>
                </a:solidFill>
              </a:defRPr>
            </a:pPr>
            <a:r>
              <a:t>stream-output</a:t>
            </a: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419100" y="5438140"/>
            <a:ext cx="11353800" cy="609600"/>
          </a:xfrm>
          <a:prstGeom prst="roundRect">
            <a:avLst>
              <a:gd name="adj" fmla="val 28125"/>
            </a:avLst>
          </a:prstGeom>
          <a:solidFill>
            <a:srgbClr val="0C1930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571500" y="5590540"/>
            <a:ext cx="4183571" cy="19431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F7FBFF"/>
                </a:solidFill>
              </a:defRPr>
            </a:pPr>
            <a:r>
              <a:t>可靠性既来自机制本身，也来自“能看见、能追、能复盘”。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221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19100" y="419100"/>
            <a:ext cx="11353800" cy="1600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5CC2FF"/>
                </a:solidFill>
              </a:defRPr>
            </a:pPr>
            <a:r>
              <a:t>整体技术方案总结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19100" y="655320"/>
            <a:ext cx="11353800" cy="3886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>
                <a:solidFill>
                  <a:srgbClr val="F7FBFF"/>
                </a:solidFill>
              </a:defRPr>
            </a:pPr>
            <a:r>
              <a:t>系统把高并发、高可用、可靠性三类目标，落实到同一套架构协同里。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19100" y="1120140"/>
            <a:ext cx="11353800" cy="20574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ABBD4"/>
                </a:solidFill>
              </a:defRPr>
            </a:p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419100" y="1554480"/>
            <a:ext cx="2000250" cy="1428750"/>
          </a:xfrm>
          <a:prstGeom prst="roundRect">
            <a:avLst>
              <a:gd name="adj" fmla="val 13333"/>
            </a:avLst>
          </a:prstGeom>
          <a:solidFill>
            <a:srgbClr val="142947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1764030"/>
            <a:ext cx="158115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用户 / 管理端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28650" y="2133600"/>
            <a:ext cx="1581150" cy="4114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ABBD4"/>
                </a:solidFill>
              </a:defRPr>
            </a:pPr>
            <a:r>
              <a:t>聊天问答、后台配置、链路查看</a:t>
            </a: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2476500" y="1554480"/>
            <a:ext cx="228600" cy="76200"/>
          </a:xfrm>
          <a:prstGeom prst="roundRect">
            <a:avLst>
              <a:gd name="adj" fmla="val 50000"/>
            </a:avLst>
          </a:prstGeom>
          <a:solidFill>
            <a:srgbClr val="5CC2FF"/>
          </a:solidFill>
        </p:spPr>
      </p:sp>
      <p:sp>
        <p:nvSpPr>
          <p:cNvPr id="10" name="圆角矩形 9"/>
          <p:cNvSpPr>
            <a:spLocks noGrp="1"/>
          </p:cNvSpPr>
          <p:nvPr/>
        </p:nvSpPr>
        <p:spPr>
          <a:xfrm>
            <a:off x="2762250" y="1554480"/>
            <a:ext cx="2381250" cy="1428750"/>
          </a:xfrm>
          <a:prstGeom prst="roundRect">
            <a:avLst>
              <a:gd name="adj" fmla="val 13333"/>
            </a:avLst>
          </a:prstGeom>
          <a:solidFill>
            <a:srgbClr val="17324F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971800" y="1764030"/>
            <a:ext cx="196215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Ragent 主服务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971800" y="2133600"/>
            <a:ext cx="1962150" cy="4114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ABBD4"/>
                </a:solidFill>
              </a:defRPr>
            </a:pPr>
            <a:r>
              <a:t>限流、路由、检索、SSE 输出</a:t>
            </a: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5200650" y="1554480"/>
            <a:ext cx="228600" cy="76200"/>
          </a:xfrm>
          <a:prstGeom prst="roundRect">
            <a:avLst>
              <a:gd name="adj" fmla="val 50000"/>
            </a:avLst>
          </a:prstGeom>
          <a:solidFill>
            <a:srgbClr val="8FE1C4"/>
          </a:solidFill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5486400" y="1554480"/>
            <a:ext cx="2000250" cy="1428750"/>
          </a:xfrm>
          <a:prstGeom prst="roundRect">
            <a:avLst>
              <a:gd name="adj" fmla="val 13333"/>
            </a:avLst>
          </a:prstGeom>
          <a:solidFill>
            <a:srgbClr val="10203A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695950" y="1764030"/>
            <a:ext cx="158115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Redis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695950" y="2133600"/>
            <a:ext cx="1581150" cy="4114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ABBD4"/>
                </a:solidFill>
              </a:defRPr>
            </a:pPr>
            <a:r>
              <a:t>缓存 / 队列 / 锁 / 并发控制</a:t>
            </a: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543800" y="1554480"/>
            <a:ext cx="228600" cy="76200"/>
          </a:xfrm>
          <a:prstGeom prst="roundRect">
            <a:avLst>
              <a:gd name="adj" fmla="val 50000"/>
            </a:avLst>
          </a:prstGeom>
          <a:solidFill>
            <a:srgbClr val="FFBF75"/>
          </a:solidFill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7829550" y="1554480"/>
            <a:ext cx="2000250" cy="1428750"/>
          </a:xfrm>
          <a:prstGeom prst="roundRect">
            <a:avLst>
              <a:gd name="adj" fmla="val 13333"/>
            </a:avLst>
          </a:prstGeom>
          <a:solidFill>
            <a:srgbClr val="10203A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039100" y="1764030"/>
            <a:ext cx="158115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RocketMQ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039100" y="2133600"/>
            <a:ext cx="1581150" cy="20574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ABBD4"/>
                </a:solidFill>
              </a:defRPr>
            </a:pPr>
            <a:r>
              <a:t>事务消息 / 异步削峰</a:t>
            </a: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9886950" y="1554480"/>
            <a:ext cx="228600" cy="76200"/>
          </a:xfrm>
          <a:prstGeom prst="roundRect">
            <a:avLst>
              <a:gd name="adj" fmla="val 50000"/>
            </a:avLst>
          </a:prstGeom>
          <a:solidFill>
            <a:srgbClr val="FF8B7A"/>
          </a:solidFill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10172700" y="1554480"/>
            <a:ext cx="2000250" cy="1428750"/>
          </a:xfrm>
          <a:prstGeom prst="roundRect">
            <a:avLst>
              <a:gd name="adj" fmla="val 13333"/>
            </a:avLst>
          </a:prstGeom>
          <a:solidFill>
            <a:srgbClr val="142947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0382250" y="1764030"/>
            <a:ext cx="1581150" cy="54864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DB / 向量库 / 模型服务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0382250" y="2407920"/>
            <a:ext cx="1581150" cy="20574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ABBD4"/>
                </a:solidFill>
              </a:defRPr>
            </a:pPr>
            <a:r>
              <a:t>持久化与下游依赖</a:t>
            </a: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419100" y="3926205"/>
            <a:ext cx="3619500" cy="1828800"/>
          </a:xfrm>
          <a:prstGeom prst="roundRect">
            <a:avLst>
              <a:gd name="adj" fmla="val 10417"/>
            </a:avLst>
          </a:prstGeom>
          <a:solidFill>
            <a:srgbClr val="142947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28650" y="4135755"/>
            <a:ext cx="320040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高并发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28650" y="4505325"/>
            <a:ext cx="3200400" cy="4114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F7FBFF"/>
                </a:solidFill>
              </a:defRPr>
            </a:pPr>
            <a:r>
              <a:t>靠分布式限流、公平排队、异步削峰，稳住入口与吞吐。</a:t>
            </a: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4286250" y="3926205"/>
            <a:ext cx="3619500" cy="1828800"/>
          </a:xfrm>
          <a:prstGeom prst="roundRect">
            <a:avLst>
              <a:gd name="adj" fmla="val 10417"/>
            </a:avLst>
          </a:prstGeom>
          <a:solidFill>
            <a:srgbClr val="10203A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4495800" y="4135755"/>
            <a:ext cx="320040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高可用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495800" y="4505325"/>
            <a:ext cx="3200400" cy="4114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F7FBFF"/>
                </a:solidFill>
              </a:defRPr>
            </a:pPr>
            <a:r>
              <a:t>靠多模型候选、熔断、故障转移，避免单点依赖失效。</a:t>
            </a: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8153400" y="3926205"/>
            <a:ext cx="3619500" cy="1828800"/>
          </a:xfrm>
          <a:prstGeom prst="roundRect">
            <a:avLst>
              <a:gd name="adj" fmla="val 10417"/>
            </a:avLst>
          </a:prstGeom>
          <a:solidFill>
            <a:srgbClr val="142947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362950" y="4135755"/>
            <a:ext cx="320040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可靠性</a:t>
            </a: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362950" y="4505325"/>
            <a:ext cx="3200400" cy="4114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F7FBFF"/>
                </a:solidFill>
              </a:defRPr>
            </a:pPr>
            <a:r>
              <a:t>靠缓存、锁、事务消息与链路追踪，保证状态可控、问题可查。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221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19100" y="419100"/>
            <a:ext cx="11353800" cy="1600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5CC2FF"/>
                </a:solidFill>
              </a:defRPr>
            </a:pPr>
            <a:r>
              <a:t>成员分工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19100" y="655320"/>
            <a:ext cx="11353800" cy="3886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>
                <a:solidFill>
                  <a:srgbClr val="F7FBFF"/>
                </a:solidFill>
              </a:defRPr>
            </a:pPr>
            <a:r>
              <a:t>每位同学负责的模块边界相对清晰，便于并行开发与集成。</a:t>
            </a: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419100" y="1272540"/>
            <a:ext cx="5543550" cy="2000250"/>
          </a:xfrm>
          <a:prstGeom prst="roundRect">
            <a:avLst>
              <a:gd name="adj" fmla="val 9524"/>
            </a:avLst>
          </a:prstGeom>
          <a:solidFill>
            <a:srgbClr val="142947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28650" y="1482090"/>
            <a:ext cx="512445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李欣雨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1851660"/>
            <a:ext cx="5124450" cy="6172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F7FBFF"/>
                </a:solidFill>
              </a:defRPr>
            </a:pPr>
            <a:r>
              <a:t>• framework 基础设施</a:t>
            </a:r>
          </a:p>
          <a:p>
            <a:pPr>
              <a:defRPr sz="1350">
                <a:solidFill>
                  <a:srgbClr val="F7FBFF"/>
                </a:solidFill>
              </a:defRPr>
            </a:pPr>
            <a:r>
              <a:t>• 分布式限流</a:t>
            </a:r>
          </a:p>
          <a:p>
            <a:pPr>
              <a:defRPr sz="1350">
                <a:solidFill>
                  <a:srgbClr val="F7FBFF"/>
                </a:solidFill>
              </a:defRPr>
            </a:pPr>
            <a:r>
              <a:t>• mcp-server 与前端基础设施</a:t>
            </a: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229350" y="1272540"/>
            <a:ext cx="5543550" cy="2000250"/>
          </a:xfrm>
          <a:prstGeom prst="roundRect">
            <a:avLst>
              <a:gd name="adj" fmla="val 9524"/>
            </a:avLst>
          </a:prstGeom>
          <a:solidFill>
            <a:srgbClr val="10203A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438900" y="1482090"/>
            <a:ext cx="512445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张佳辉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438900" y="1851660"/>
            <a:ext cx="5124450" cy="4114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F7FBFF"/>
                </a:solidFill>
              </a:defRPr>
            </a:pPr>
            <a:r>
              <a:t>• knowledge / ingestion / core / admin</a:t>
            </a:r>
          </a:p>
          <a:p>
            <a:pPr>
              <a:defRPr sz="1350">
                <a:solidFill>
                  <a:srgbClr val="F7FBFF"/>
                </a:solidFill>
              </a:defRPr>
            </a:pPr>
            <a:r>
              <a:t>• 消息队列相关能力</a:t>
            </a: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419100" y="3444240"/>
            <a:ext cx="5543550" cy="2000250"/>
          </a:xfrm>
          <a:prstGeom prst="roundRect">
            <a:avLst>
              <a:gd name="adj" fmla="val 9524"/>
            </a:avLst>
          </a:prstGeom>
          <a:solidFill>
            <a:srgbClr val="10203A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3653790"/>
            <a:ext cx="512445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连子森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28650" y="4023360"/>
            <a:ext cx="5124450" cy="6172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F7FBFF"/>
                </a:solidFill>
              </a:defRPr>
            </a:pPr>
            <a:r>
              <a:t>• RAG 核心问答引擎</a:t>
            </a:r>
          </a:p>
          <a:p>
            <a:pPr>
              <a:defRPr sz="1350">
                <a:solidFill>
                  <a:srgbClr val="F7FBFF"/>
                </a:solidFill>
              </a:defRPr>
            </a:pPr>
            <a:r>
              <a:t>• 意图树缓存</a:t>
            </a:r>
          </a:p>
          <a:p>
            <a:pPr>
              <a:defRPr sz="1350">
                <a:solidFill>
                  <a:srgbClr val="F7FBFF"/>
                </a:solidFill>
              </a:defRPr>
            </a:pPr>
            <a:r>
              <a:t>• 多模型动态路由</a:t>
            </a: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229350" y="3444240"/>
            <a:ext cx="5543550" cy="2000250"/>
          </a:xfrm>
          <a:prstGeom prst="roundRect">
            <a:avLst>
              <a:gd name="adj" fmla="val 9524"/>
            </a:avLst>
          </a:prstGeom>
          <a:solidFill>
            <a:srgbClr val="142947"/>
          </a:solidFill>
          <a:ln w="9525">
            <a:solidFill>
              <a:srgbClr val="315784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438900" y="3653790"/>
            <a:ext cx="512445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  <a:r>
              <a:t>张馨仪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438900" y="4023360"/>
            <a:ext cx="5124450" cy="4114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F7FBFF"/>
                </a:solidFill>
              </a:defRPr>
            </a:pPr>
            <a:r>
              <a:t>• 前端主体页面</a:t>
            </a:r>
          </a:p>
          <a:p>
            <a:pPr>
              <a:defRPr sz="1350">
                <a:solidFill>
                  <a:srgbClr val="F7FBFF"/>
                </a:solidFill>
              </a:defRPr>
            </a:pPr>
            <a:r>
              <a:t>• 上下文压缩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71500" y="5768340"/>
            <a:ext cx="7325582" cy="3886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>
                <a:solidFill>
                  <a:srgbClr val="F7FBFF"/>
                </a:solidFill>
              </a:defRPr>
            </a:p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229350" y="5615940"/>
            <a:ext cx="5543550" cy="9525"/>
          </a:xfrm>
          <a:prstGeom prst="roundRect">
            <a:avLst>
              <a:gd name="adj" fmla="val 50000"/>
            </a:avLst>
          </a:prstGeom>
          <a:solidFill>
            <a:srgbClr val="081221"/>
          </a:solidFill>
          <a:ln w="9525">
            <a:solidFill>
              <a:srgbClr val="081221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229350" y="5615940"/>
            <a:ext cx="5543550" cy="2743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7FBFF"/>
                </a:solidFill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221"/>
          </a:solidFill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19100" y="419100"/>
            <a:ext cx="1135380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5CC2FF"/>
                </a:solidFill>
              </a:defRPr>
            </a:pPr>
            <a:r>
              <a:t>Q&amp;A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19100" y="1428750"/>
            <a:ext cx="11353800" cy="2000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>
                <a:solidFill>
                  <a:srgbClr val="F7FBFF"/>
                </a:solidFill>
              </a:defRPr>
            </a:pPr>
            <a:r>
              <a:t>这个项目的核心价值，不在于做了一个问答界面，</a:t>
            </a:r>
          </a:p>
          <a:p>
            <a:pPr>
              <a:defRPr sz="2700">
                <a:solidFill>
                  <a:srgbClr val="F7FBFF"/>
                </a:solidFill>
              </a:defRPr>
            </a:pPr>
            <a:r>
              <a:t>而在于把高并发、高可用、可靠性设计真正落到了一个完整系统里。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19100" y="3600450"/>
            <a:ext cx="11353800" cy="1143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AABBD4"/>
                </a:solidFill>
              </a:defRPr>
            </a:pPr>
            <a:r>
              <a:t>谢谢老师与同学们。欢迎提问。</a:t>
            </a: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419100" y="5734050"/>
            <a:ext cx="2095500" cy="400050"/>
          </a:xfrm>
          <a:prstGeom prst="roundRect">
            <a:avLst>
              <a:gd name="adj" fmla="val 50000"/>
            </a:avLst>
          </a:prstGeom>
          <a:solidFill>
            <a:srgbClr val="0E2138"/>
          </a:solidFill>
          <a:ln w="9525">
            <a:solidFill>
              <a:srgbClr val="5CC2FF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514350" y="5829300"/>
            <a:ext cx="457200" cy="1828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5CC2FF"/>
                </a:solidFill>
              </a:defRPr>
            </a:pPr>
            <a:r>
              <a:t>高并发</a:t>
            </a: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2686050" y="5734050"/>
            <a:ext cx="2095500" cy="400050"/>
          </a:xfrm>
          <a:prstGeom prst="roundRect">
            <a:avLst>
              <a:gd name="adj" fmla="val 50000"/>
            </a:avLst>
          </a:prstGeom>
          <a:solidFill>
            <a:srgbClr val="0E2138"/>
          </a:solidFill>
          <a:ln w="9525">
            <a:solidFill>
              <a:srgbClr val="8FE1C4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781300" y="5829300"/>
            <a:ext cx="457200" cy="1828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8FE1C4"/>
                </a:solidFill>
              </a:defRPr>
            </a:pPr>
            <a:r>
              <a:t>高可用</a:t>
            </a: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953000" y="5734050"/>
            <a:ext cx="2095500" cy="400050"/>
          </a:xfrm>
          <a:prstGeom prst="roundRect">
            <a:avLst>
              <a:gd name="adj" fmla="val 50000"/>
            </a:avLst>
          </a:prstGeom>
          <a:solidFill>
            <a:srgbClr val="0E2138"/>
          </a:solidFill>
          <a:ln w="9525">
            <a:solidFill>
              <a:srgbClr val="FFBF75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048250" y="5829300"/>
            <a:ext cx="457200" cy="18288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FFBF75"/>
                </a:solidFill>
              </a:defRPr>
            </a:pPr>
            <a:r>
              <a:t>可靠性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2527</Words>
  <Application>WPS 演示</Application>
  <PresentationFormat>Converted Presentation</PresentationFormat>
  <Paragraphs>328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Arial</vt:lpstr>
      <vt:lpstr>宋体</vt:lpstr>
      <vt:lpstr>Wingdings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龙之介</cp:lastModifiedBy>
  <cp:revision>10</cp:revision>
  <dcterms:created xsi:type="dcterms:W3CDTF">2026-05-31T09:23:00Z</dcterms:created>
  <dcterms:modified xsi:type="dcterms:W3CDTF">2026-05-31T09:33:38Z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A9A29D9E75A0403DB64E9E3270F3A021_12</vt:lpwstr>
  </property>
  <property fmtid="{D5CDD505-2E9C-101B-9397-08002B2CF9AE}" pid="3" name="KSOProductBuildVer">
    <vt:lpwstr>2052-12.1.0.26381</vt:lpwstr>
  </property>
</Properties>
</file>